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A2B4A"/>
                </a:solidFill>
                <a:latin typeface="Arial"/>
              </a:rPr>
              <a:t>Traffic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7A96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52-40A7-91C5-A9C49AA6E9D8}"/>
              </c:ext>
            </c:extLst>
          </c:dPt>
          <c:dPt>
            <c:idx val="1"/>
            <c:invertIfNegative val="0"/>
            <c:bubble3D val="0"/>
            <c:spPr>
              <a:solidFill>
                <a:srgbClr val="E855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52-40A7-91C5-A9C49AA6E9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High Traffic</c:v>
                </c:pt>
                <c:pt idx="1">
                  <c:v>Low Traffic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574</c:v>
                </c:pt>
                <c:pt idx="1">
                  <c:v>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52-40A7-91C5-A9C49AA6E9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Traffic</c:v>
                </c:pt>
              </c:strCache>
            </c:strRef>
          </c:tx>
          <c:spPr>
            <a:solidFill>
              <a:srgbClr val="27A96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Chicken</c:v>
                </c:pt>
                <c:pt idx="1">
                  <c:v>Breakfast</c:v>
                </c:pt>
                <c:pt idx="2">
                  <c:v>Beverages</c:v>
                </c:pt>
                <c:pt idx="3">
                  <c:v>Pork</c:v>
                </c:pt>
                <c:pt idx="4">
                  <c:v>Potato</c:v>
                </c:pt>
                <c:pt idx="5">
                  <c:v>Dessert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72</c:v>
                </c:pt>
                <c:pt idx="2">
                  <c:v>65</c:v>
                </c:pt>
                <c:pt idx="3">
                  <c:v>58</c:v>
                </c:pt>
                <c:pt idx="4">
                  <c:v>50</c:v>
                </c:pt>
                <c:pt idx="5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10-4F58-A7C8-79332AB346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Traffic</c:v>
                </c:pt>
              </c:strCache>
            </c:strRef>
          </c:tx>
          <c:spPr>
            <a:solidFill>
              <a:srgbClr val="E8553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Chicken</c:v>
                </c:pt>
                <c:pt idx="1">
                  <c:v>Breakfast</c:v>
                </c:pt>
                <c:pt idx="2">
                  <c:v>Beverages</c:v>
                </c:pt>
                <c:pt idx="3">
                  <c:v>Pork</c:v>
                </c:pt>
                <c:pt idx="4">
                  <c:v>Potato</c:v>
                </c:pt>
                <c:pt idx="5">
                  <c:v>Dessert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</c:v>
                </c:pt>
                <c:pt idx="1">
                  <c:v>30</c:v>
                </c:pt>
                <c:pt idx="2">
                  <c:v>40</c:v>
                </c:pt>
                <c:pt idx="3">
                  <c:v>45</c:v>
                </c:pt>
                <c:pt idx="4">
                  <c:v>55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10-4F58-A7C8-79332AB34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23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601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Site Traffic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6916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High-Traffic Recipes for Homepage Selection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3063240"/>
            <a:ext cx="4114800" cy="27432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Malkar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Site Traffic 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1280160"/>
            <a:ext cx="3566160" cy="3200400"/>
          </a:xfrm>
          <a:prstGeom prst="rect">
            <a:avLst/>
          </a:prstGeom>
          <a:solidFill>
            <a:srgbClr val="243860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280160"/>
            <a:ext cx="3566160" cy="41148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8288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Tasty Bytes identify recipes likely to generate high website traffic when featured on the homepage.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Data-driven homepage selection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Maximize traffic &amp; subscriptions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manual guesswork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64008" cy="65836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544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recipes increase website traffic by up to 40%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13432"/>
            <a:ext cx="64008" cy="65836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591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traffic directly drives more subscriptions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311810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18104"/>
            <a:ext cx="64008" cy="65836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638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selection is manual — no systematic approach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069080" cy="3794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097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9204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that can: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2039112"/>
            <a:ext cx="320040" cy="320040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039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21808" y="20299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</a:t>
            </a: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recipe will generate high traffic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2843784"/>
            <a:ext cx="320040" cy="320040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843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21808" y="28346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</a:t>
            </a: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recipe selection decisions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648456"/>
            <a:ext cx="320040" cy="320040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363931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</a:t>
            </a: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high-performing recipes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060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060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05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26060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005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08076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176272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76272"/>
            <a:ext cx="41148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Included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1810512" cy="384048"/>
          </a:xfrm>
          <a:prstGeom prst="rect">
            <a:avLst/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468880" y="2697480"/>
            <a:ext cx="1810512" cy="384048"/>
          </a:xfrm>
          <a:prstGeom prst="rect">
            <a:avLst/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6974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1810512" cy="384048"/>
          </a:xfrm>
          <a:prstGeom prst="rect">
            <a:avLst/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9125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68880" y="3191256"/>
            <a:ext cx="1810512" cy="384048"/>
          </a:xfrm>
          <a:prstGeom prst="rect">
            <a:avLst/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319125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1810512" cy="384048"/>
          </a:xfrm>
          <a:prstGeom prst="rect">
            <a:avLst/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850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468880" y="3685032"/>
            <a:ext cx="1810512" cy="384048"/>
          </a:xfrm>
          <a:prstGeom prst="rect">
            <a:avLst/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6850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78808"/>
            <a:ext cx="1810512" cy="384048"/>
          </a:xfrm>
          <a:prstGeom prst="rect">
            <a:avLst/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788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ID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468880" y="4178808"/>
            <a:ext cx="1810512" cy="384048"/>
          </a:xfrm>
          <a:prstGeom prst="rect">
            <a:avLst/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1788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 Indicator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2176272"/>
            <a:ext cx="40690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176272"/>
            <a:ext cx="406908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1762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0" y="2834640"/>
            <a:ext cx="3520440" cy="685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834640"/>
            <a:ext cx="64008" cy="685800"/>
          </a:xfrm>
          <a:prstGeom prst="rect">
            <a:avLst/>
          </a:prstGeom>
          <a:solidFill>
            <a:srgbClr val="27A96C"/>
          </a:solidFill>
          <a:ln w="12700">
            <a:solidFill>
              <a:srgbClr val="27A9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28346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A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High Traffic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5029200" y="3840480"/>
            <a:ext cx="3520440" cy="685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840480"/>
            <a:ext cx="64008" cy="68580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Low Traffic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Cleaning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1148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292608" cy="292608"/>
          </a:xfrm>
          <a:prstGeom prst="ellipse">
            <a:avLst/>
          </a:prstGeom>
          <a:solidFill>
            <a:srgbClr val="27A96C"/>
          </a:solidFill>
          <a:ln w="12700">
            <a:solidFill>
              <a:srgbClr val="27A9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151790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2139696"/>
            <a:ext cx="292608" cy="292608"/>
          </a:xfrm>
          <a:prstGeom prst="ellipse">
            <a:avLst/>
          </a:prstGeom>
          <a:solidFill>
            <a:srgbClr val="27A96C"/>
          </a:solidFill>
          <a:ln w="12700">
            <a:solidFill>
              <a:srgbClr val="27A9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" y="20848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duplicates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" y="2706624"/>
            <a:ext cx="292608" cy="292608"/>
          </a:xfrm>
          <a:prstGeom prst="ellipse">
            <a:avLst/>
          </a:prstGeom>
          <a:solidFill>
            <a:srgbClr val="27A96C"/>
          </a:solidFill>
          <a:ln w="12700">
            <a:solidFill>
              <a:srgbClr val="27A9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" y="2651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category values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" y="3273552"/>
            <a:ext cx="292608" cy="292608"/>
          </a:xfrm>
          <a:prstGeom prst="ellipse">
            <a:avLst/>
          </a:prstGeom>
          <a:solidFill>
            <a:srgbClr val="27A96C"/>
          </a:solidFill>
          <a:ln w="12700">
            <a:solidFill>
              <a:srgbClr val="27A9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32186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servings column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" y="3840480"/>
            <a:ext cx="292608" cy="292608"/>
          </a:xfrm>
          <a:prstGeom prst="ellipse">
            <a:avLst/>
          </a:prstGeom>
          <a:solidFill>
            <a:srgbClr val="27A96C"/>
          </a:solidFill>
          <a:ln w="12700">
            <a:solidFill>
              <a:srgbClr val="27A9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76" y="37856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binary target variable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960120"/>
            <a:ext cx="4069080" cy="41148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60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Actions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1536192"/>
            <a:ext cx="365760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1536192"/>
            <a:ext cx="64008" cy="56692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1536192"/>
            <a:ext cx="3401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nutritional values filled using median values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92040" y="2231136"/>
            <a:ext cx="365760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231136"/>
            <a:ext cx="64008" cy="56692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2231136"/>
            <a:ext cx="3401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traffic values converted to Low Traffic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92040" y="2926080"/>
            <a:ext cx="365760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2926080"/>
            <a:ext cx="64008" cy="56692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2926080"/>
            <a:ext cx="3401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Servings column converted to numeric format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892040" y="3621024"/>
            <a:ext cx="365760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621024"/>
            <a:ext cx="64008" cy="56692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4064" y="3621024"/>
            <a:ext cx="3401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found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92040" y="4343400"/>
            <a:ext cx="3657600" cy="914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2062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 dataset ready for analysis and modeling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91440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9144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914400"/>
            <a:ext cx="64008" cy="1005840"/>
          </a:xfrm>
          <a:prstGeom prst="rect">
            <a:avLst/>
          </a:prstGeom>
          <a:solidFill>
            <a:srgbClr val="27A96C"/>
          </a:solidFill>
          <a:ln w="12700">
            <a:solidFill>
              <a:srgbClr val="27A9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56048" y="960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A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574 </a:t>
            </a: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</a:t>
            </a:r>
            <a:endParaRPr lang="en-US" sz="2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60.6% of all recipes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754880" y="2029968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029968"/>
            <a:ext cx="64008" cy="100584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6048" y="207568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 </a:t>
            </a: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Traffic</a:t>
            </a:r>
            <a:endParaRPr lang="en-US" sz="2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39.4% of all recipes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754880" y="3200400"/>
            <a:ext cx="4069080" cy="12618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3291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363931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contains sufficient examples of both classes. No resampling required for classification modeling.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vs Traffic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37160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32588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325880"/>
            <a:ext cx="64008" cy="100584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13898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Varies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8932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differs significantly across recipe categories.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06440" y="2496312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06440" y="2496312"/>
            <a:ext cx="64008" cy="100584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5603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89320" y="286207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categories (e.g. Chicken, Breakfast) consistently generate high traffic.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06440" y="3666744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06440" y="3666744"/>
            <a:ext cx="64008" cy="100584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7307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Matters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89320" y="403250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type is a key predictor — important for model &amp; selection.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Type: Binary Classification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41148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779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6576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27248"/>
            <a:ext cx="54864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1272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interpretable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36576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30168"/>
            <a:ext cx="54864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63016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linear baseline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33088"/>
            <a:ext cx="36576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33088"/>
            <a:ext cx="54864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1330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&amp; validate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60020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600200"/>
            <a:ext cx="4114800" cy="50292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600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2779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127248"/>
            <a:ext cx="36576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127248"/>
            <a:ext cx="54864" cy="38404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31272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3630168"/>
            <a:ext cx="36576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3630168"/>
            <a:ext cx="54864" cy="38404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363016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feature interactions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4133088"/>
            <a:ext cx="36576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4133088"/>
            <a:ext cx="54864" cy="38404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41330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ensemble method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3591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9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9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9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9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7A9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3931920" cy="10515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3767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40599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outperformed Random Forest across all evaluation metrics.</a:t>
            </a:r>
            <a:endParaRPr lang="en-US" sz="1200" dirty="0"/>
          </a:p>
        </p:txBody>
      </p:sp>
      <p:sp>
        <p:nvSpPr>
          <p:cNvPr id="5" name="Shape 6"/>
          <p:cNvSpPr/>
          <p:nvPr/>
        </p:nvSpPr>
        <p:spPr>
          <a:xfrm>
            <a:off x="4754880" y="3703320"/>
            <a:ext cx="3931920" cy="1051560"/>
          </a:xfrm>
          <a:prstGeom prst="rect">
            <a:avLst/>
          </a:prstGeom>
          <a:solidFill>
            <a:srgbClr val="27A96C"/>
          </a:solidFill>
          <a:ln w="12700">
            <a:solidFill>
              <a:srgbClr val="27A9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3767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92040" y="40599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Logistic Regression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2286000"/>
          </a:xfrm>
          <a:prstGeom prst="rect">
            <a:avLst/>
          </a:prstGeom>
          <a:solidFill>
            <a:srgbClr val="243860"/>
          </a:solidFill>
          <a:ln w="12700">
            <a:solidFill>
              <a:srgbClr val="E855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 Capture Rate (Recall)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76.52%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 out of every 100 high-traffic recipes correctly identified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69080" cy="2286000"/>
          </a:xfrm>
          <a:prstGeom prst="rect">
            <a:avLst/>
          </a:prstGeom>
          <a:solidFill>
            <a:srgbClr val="243860"/>
          </a:solidFill>
          <a:ln w="1270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463040"/>
            <a:ext cx="201168" cy="201168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63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66360" y="1435608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Logistic Regression as a decision-support tool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1801368"/>
            <a:ext cx="201168" cy="201168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01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66360" y="177393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model predictions for homepage recipe selection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2139696"/>
            <a:ext cx="201168" cy="201168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39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211226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Recall as the primary business metric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2478024"/>
            <a:ext cx="201168" cy="201168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78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66360" y="2450592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additional user engagement 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2816352"/>
            <a:ext cx="201168" cy="201168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66360" y="278892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A/B testing vs. the current manual process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456432"/>
            <a:ext cx="8503920" cy="137160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547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389534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Regression model provides a reliable, data-driven approach to recipe selection and can help improve homepage traffic and subscription growth for Tasty Bytes.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493</Words>
  <Application>Microsoft Office PowerPoint</Application>
  <PresentationFormat>On-screen Show (16:9)</PresentationFormat>
  <Paragraphs>142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 Site Traffic Prediction</dc:title>
  <dc:subject>PptxGenJS Presentation</dc:subject>
  <dc:creator>Shubham Malko</dc:creator>
  <cp:lastModifiedBy>Shubh Malkar</cp:lastModifiedBy>
  <cp:revision>2</cp:revision>
  <dcterms:created xsi:type="dcterms:W3CDTF">2026-06-07T15:51:34Z</dcterms:created>
  <dcterms:modified xsi:type="dcterms:W3CDTF">2026-06-07T16:11:06Z</dcterms:modified>
</cp:coreProperties>
</file>